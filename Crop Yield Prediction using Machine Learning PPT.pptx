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318" r:id="rId5"/>
    <p:sldId id="319" r:id="rId6"/>
    <p:sldId id="320" r:id="rId7"/>
    <p:sldId id="278" r:id="rId8"/>
    <p:sldId id="309" r:id="rId9"/>
    <p:sldId id="263" r:id="rId10"/>
    <p:sldId id="310" r:id="rId11"/>
    <p:sldId id="311" r:id="rId12"/>
    <p:sldId id="312" r:id="rId13"/>
    <p:sldId id="316" r:id="rId14"/>
    <p:sldId id="314" r:id="rId15"/>
    <p:sldId id="321" r:id="rId16"/>
    <p:sldId id="304" r:id="rId17"/>
    <p:sldId id="32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varScale="1">
        <p:scale>
          <a:sx n="105" d="100"/>
          <a:sy n="105" d="100"/>
        </p:scale>
        <p:origin x="834" y="7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9/18/2026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9/18/2026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DAB22-FD7E-F9CB-1C35-FE7CE3D16B77}"/>
              </a:ext>
            </a:extLst>
          </p:cNvPr>
          <p:cNvSpPr>
            <a:spLocks noGrp="1"/>
          </p:cNvSpPr>
          <p:nvPr>
            <p:ph type="title"/>
          </p:nvPr>
        </p:nvSpPr>
        <p:spPr>
          <a:xfrm>
            <a:off x="210312" y="1444752"/>
            <a:ext cx="12192000" cy="667512"/>
          </a:xfrm>
        </p:spPr>
        <p:txBody>
          <a:bodyPr/>
          <a:lstStyle/>
          <a:p>
            <a:r>
              <a:rPr lang="en-IN" sz="4000" b="1" dirty="0">
                <a:latin typeface="Bell MT" panose="02020503060305020303" pitchFamily="18" charset="0"/>
              </a:rPr>
              <a:t>Crop Yield Prediction using Machine Learning</a:t>
            </a:r>
            <a:r>
              <a:rPr lang="en-IN" sz="4000" dirty="0">
                <a:latin typeface="Bell MT" panose="02020503060305020303" pitchFamily="18" charset="0"/>
              </a:rPr>
              <a:t> </a:t>
            </a:r>
            <a:endParaRPr lang="en-IN" sz="4000" dirty="0"/>
          </a:p>
        </p:txBody>
      </p:sp>
      <p:sp>
        <p:nvSpPr>
          <p:cNvPr id="3" name="Text Placeholder 2">
            <a:extLst>
              <a:ext uri="{FF2B5EF4-FFF2-40B4-BE49-F238E27FC236}">
                <a16:creationId xmlns:a16="http://schemas.microsoft.com/office/drawing/2014/main" id="{1F820064-91B4-3E94-61DF-FC7A28C903B5}"/>
              </a:ext>
            </a:extLst>
          </p:cNvPr>
          <p:cNvSpPr>
            <a:spLocks noGrp="1"/>
          </p:cNvSpPr>
          <p:nvPr>
            <p:ph type="body" sz="quarter" idx="13"/>
          </p:nvPr>
        </p:nvSpPr>
        <p:spPr>
          <a:xfrm>
            <a:off x="1005840" y="2514599"/>
            <a:ext cx="5623560" cy="3773171"/>
          </a:xfrm>
        </p:spPr>
        <p:txBody>
          <a:bodyPr/>
          <a:lstStyle/>
          <a:p>
            <a:pPr algn="l"/>
            <a:r>
              <a:rPr lang="en-IN" b="1" dirty="0">
                <a:latin typeface="Bell MT" panose="02020503060305020303" pitchFamily="18" charset="0"/>
              </a:rPr>
              <a:t>TEAM MEMBERS </a:t>
            </a:r>
            <a:r>
              <a:rPr lang="en-IN" dirty="0">
                <a:latin typeface="Bell MT" panose="02020503060305020303" pitchFamily="18" charset="0"/>
              </a:rPr>
              <a:t>: </a:t>
            </a:r>
          </a:p>
          <a:p>
            <a:pPr algn="l"/>
            <a:r>
              <a:rPr lang="en-IN" dirty="0">
                <a:latin typeface="Bell MT" panose="02020503060305020303" pitchFamily="18" charset="0"/>
              </a:rPr>
              <a:t>MANASWI – 2520030411</a:t>
            </a:r>
          </a:p>
          <a:p>
            <a:pPr algn="l"/>
            <a:r>
              <a:rPr lang="en-IN" dirty="0">
                <a:latin typeface="Bell MT" panose="02020503060305020303" pitchFamily="18" charset="0"/>
              </a:rPr>
              <a:t>MANISHA-2520030054</a:t>
            </a:r>
          </a:p>
          <a:p>
            <a:pPr algn="l"/>
            <a:r>
              <a:rPr lang="en-IN" b="1" dirty="0">
                <a:latin typeface="Bell MT" panose="02020503060305020303" pitchFamily="18" charset="0"/>
              </a:rPr>
              <a:t>GUIDE:</a:t>
            </a:r>
          </a:p>
          <a:p>
            <a:pPr algn="l"/>
            <a:r>
              <a:rPr lang="en-IN" b="1" dirty="0">
                <a:latin typeface="Bell MT" panose="02020503060305020303" pitchFamily="18" charset="0"/>
              </a:rPr>
              <a:t> DR. </a:t>
            </a:r>
            <a:r>
              <a:rPr lang="en-IN" b="1" dirty="0" err="1">
                <a:latin typeface="Bell MT" panose="02020503060305020303" pitchFamily="18" charset="0"/>
              </a:rPr>
              <a:t>Nirmalajyothi</a:t>
            </a:r>
            <a:r>
              <a:rPr lang="en-IN" b="1" dirty="0">
                <a:latin typeface="Bell MT" panose="02020503060305020303" pitchFamily="18" charset="0"/>
              </a:rPr>
              <a:t> </a:t>
            </a:r>
            <a:r>
              <a:rPr lang="en-IN" b="1" dirty="0" err="1">
                <a:latin typeface="Bell MT" panose="02020503060305020303" pitchFamily="18" charset="0"/>
              </a:rPr>
              <a:t>Narisetty</a:t>
            </a:r>
            <a:endParaRPr lang="en-IN" b="1" dirty="0">
              <a:latin typeface="Bell MT" panose="02020503060305020303" pitchFamily="18" charset="0"/>
            </a:endParaRPr>
          </a:p>
          <a:p>
            <a:pPr algn="l"/>
            <a:endParaRPr lang="en-IN" b="1" dirty="0">
              <a:latin typeface="Bell MT" panose="02020503060305020303" pitchFamily="18" charset="0"/>
            </a:endParaRPr>
          </a:p>
          <a:p>
            <a:pPr algn="l"/>
            <a:endParaRPr lang="en-IN" dirty="0">
              <a:latin typeface="Bell MT" panose="02020503060305020303" pitchFamily="18" charset="0"/>
            </a:endParaRPr>
          </a:p>
        </p:txBody>
      </p:sp>
      <p:pic>
        <p:nvPicPr>
          <p:cNvPr id="4" name="Picture 3" descr="KLH Bowrampet Campus | Top Engineering College in Hyderabad">
            <a:extLst>
              <a:ext uri="{FF2B5EF4-FFF2-40B4-BE49-F238E27FC236}">
                <a16:creationId xmlns:a16="http://schemas.microsoft.com/office/drawing/2014/main" id="{0EA1DA34-E6EE-ACF2-CDA2-727C3A945303}"/>
              </a:ext>
            </a:extLst>
          </p:cNvPr>
          <p:cNvPicPr>
            <a:picLocks noChangeAspect="1"/>
          </p:cNvPicPr>
          <p:nvPr/>
        </p:nvPicPr>
        <p:blipFill>
          <a:blip r:embed="rId2"/>
          <a:stretch>
            <a:fillRect/>
          </a:stretch>
        </p:blipFill>
        <p:spPr>
          <a:xfrm>
            <a:off x="9912096" y="180602"/>
            <a:ext cx="2127122" cy="1044694"/>
          </a:xfrm>
          <a:prstGeom prst="rect">
            <a:avLst/>
          </a:prstGeom>
        </p:spPr>
      </p:pic>
    </p:spTree>
    <p:extLst>
      <p:ext uri="{BB962C8B-B14F-4D97-AF65-F5344CB8AC3E}">
        <p14:creationId xmlns:p14="http://schemas.microsoft.com/office/powerpoint/2010/main" val="3333823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408B6-3FE8-15A8-2630-36430E8F7F85}"/>
              </a:ext>
            </a:extLst>
          </p:cNvPr>
          <p:cNvSpPr>
            <a:spLocks noGrp="1"/>
          </p:cNvSpPr>
          <p:nvPr>
            <p:ph type="ctrTitle"/>
          </p:nvPr>
        </p:nvSpPr>
        <p:spPr>
          <a:xfrm>
            <a:off x="0" y="0"/>
            <a:ext cx="12192000" cy="6940296"/>
          </a:xfrm>
        </p:spPr>
        <p:txBody>
          <a:bodyPr/>
          <a:lstStyle/>
          <a:p>
            <a:r>
              <a:rPr lang="en-IN" sz="5400" b="1" dirty="0"/>
              <a:t>Introduction</a:t>
            </a:r>
            <a:br>
              <a:rPr lang="en-IN" sz="6000" b="1" dirty="0"/>
            </a:br>
            <a:br>
              <a:rPr lang="en-IN" sz="2400" b="1" dirty="0"/>
            </a:br>
            <a:r>
              <a:rPr lang="en-IN" sz="2400" dirty="0"/>
              <a:t>Agriculture plays a vital role in food production and economic development.</a:t>
            </a:r>
            <a:br>
              <a:rPr lang="en-IN" sz="2400" dirty="0"/>
            </a:br>
            <a:r>
              <a:rPr lang="en-IN" sz="2400" dirty="0"/>
              <a:t>Crop yield depends on factors such as rainfall, temperature, soil characteristics, crop type, and cultivated area.</a:t>
            </a:r>
            <a:br>
              <a:rPr lang="en-IN" sz="2400" dirty="0"/>
            </a:br>
            <a:r>
              <a:rPr lang="en-IN" sz="2400" dirty="0"/>
              <a:t>Traditional methods of yield estimation may not capture complex relationships between these factors.</a:t>
            </a:r>
            <a:br>
              <a:rPr lang="en-IN" sz="2400" dirty="0"/>
            </a:br>
            <a:r>
              <a:rPr lang="en-IN" sz="2400" dirty="0"/>
              <a:t>Machine Learning (ML) can </a:t>
            </a:r>
            <a:r>
              <a:rPr lang="en-IN" sz="2400" dirty="0" err="1"/>
              <a:t>analyze</a:t>
            </a:r>
            <a:r>
              <a:rPr lang="en-IN" sz="2400" dirty="0"/>
              <a:t> historical agricultural data and identify patterns for accurate yield prediction.</a:t>
            </a:r>
            <a:br>
              <a:rPr lang="en-IN" sz="2400" dirty="0"/>
            </a:br>
            <a:r>
              <a:rPr lang="en-IN" sz="2400" dirty="0"/>
              <a:t>This project uses Random Forest, </a:t>
            </a:r>
            <a:r>
              <a:rPr lang="en-IN" sz="2400" dirty="0" err="1"/>
              <a:t>XGBoost</a:t>
            </a:r>
            <a:r>
              <a:rPr lang="en-IN" sz="2400" dirty="0"/>
              <a:t>, and Support Vector Regression (SVR) to predict crop yield.</a:t>
            </a:r>
            <a:br>
              <a:rPr lang="en-IN" sz="2400" dirty="0"/>
            </a:br>
            <a:r>
              <a:rPr lang="en-IN" sz="2400" dirty="0"/>
              <a:t>The predicted results can support better agricultural planning, resource management, and decision-making.</a:t>
            </a:r>
            <a:br>
              <a:rPr lang="en-IN" sz="2400" dirty="0"/>
            </a:br>
            <a:endParaRPr lang="en-IN" sz="2400" dirty="0"/>
          </a:p>
        </p:txBody>
      </p:sp>
    </p:spTree>
    <p:extLst>
      <p:ext uri="{BB962C8B-B14F-4D97-AF65-F5344CB8AC3E}">
        <p14:creationId xmlns:p14="http://schemas.microsoft.com/office/powerpoint/2010/main" val="264353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40BAF-9784-6B35-8FA4-20C39C757203}"/>
              </a:ext>
            </a:extLst>
          </p:cNvPr>
          <p:cNvSpPr>
            <a:spLocks noGrp="1"/>
          </p:cNvSpPr>
          <p:nvPr>
            <p:ph type="title"/>
          </p:nvPr>
        </p:nvSpPr>
        <p:spPr>
          <a:xfrm>
            <a:off x="402336" y="310896"/>
            <a:ext cx="7534656" cy="914400"/>
          </a:xfrm>
        </p:spPr>
        <p:txBody>
          <a:bodyPr/>
          <a:lstStyle/>
          <a:p>
            <a:r>
              <a:rPr lang="en-IN" sz="5400" b="1" dirty="0"/>
              <a:t>Problem Statement</a:t>
            </a:r>
            <a:endParaRPr lang="en-IN" sz="5400" dirty="0"/>
          </a:p>
        </p:txBody>
      </p:sp>
      <p:sp>
        <p:nvSpPr>
          <p:cNvPr id="3" name="Content Placeholder 2">
            <a:extLst>
              <a:ext uri="{FF2B5EF4-FFF2-40B4-BE49-F238E27FC236}">
                <a16:creationId xmlns:a16="http://schemas.microsoft.com/office/drawing/2014/main" id="{B159316E-35B1-FB64-F48D-FC2DE3733A57}"/>
              </a:ext>
            </a:extLst>
          </p:cNvPr>
          <p:cNvSpPr>
            <a:spLocks noGrp="1"/>
          </p:cNvSpPr>
          <p:nvPr>
            <p:ph sz="quarter" idx="10"/>
          </p:nvPr>
        </p:nvSpPr>
        <p:spPr>
          <a:xfrm>
            <a:off x="301752" y="1782351"/>
            <a:ext cx="7534656" cy="5107288"/>
          </a:xfrm>
        </p:spPr>
        <p:txBody>
          <a:bodyPr>
            <a:normAutofit/>
          </a:bodyPr>
          <a:lstStyle/>
          <a:p>
            <a:pPr marL="457200" lvl="0" indent="-457200">
              <a:buFont typeface="+mj-lt"/>
              <a:buAutoNum type="arabicPeriod"/>
            </a:pPr>
            <a:r>
              <a:rPr lang="en-IN" sz="2400" dirty="0">
                <a:latin typeface="+mj-lt"/>
              </a:rPr>
              <a:t>Traditional yield estimation relies mainly on historical records and manual methods.</a:t>
            </a:r>
          </a:p>
          <a:p>
            <a:pPr marL="457200" lvl="0" indent="-457200">
              <a:buFont typeface="+mj-lt"/>
              <a:buAutoNum type="arabicPeriod"/>
            </a:pPr>
            <a:r>
              <a:rPr lang="en-IN" sz="2400" dirty="0">
                <a:latin typeface="+mj-lt"/>
              </a:rPr>
              <a:t>These methods may be less effective when multiple environmental and agricultural factors interact.</a:t>
            </a:r>
          </a:p>
          <a:p>
            <a:pPr marL="457200" lvl="0" indent="-457200">
              <a:buFont typeface="+mj-lt"/>
              <a:buAutoNum type="arabicPeriod"/>
            </a:pPr>
            <a:r>
              <a:rPr lang="en-IN" sz="2400" dirty="0">
                <a:latin typeface="+mj-lt"/>
              </a:rPr>
              <a:t>Accurate yield prediction is important for </a:t>
            </a:r>
            <a:r>
              <a:rPr lang="en-IN" sz="2400" b="1" dirty="0">
                <a:latin typeface="+mj-lt"/>
              </a:rPr>
              <a:t>resource planning and agricultural decision-making</a:t>
            </a:r>
            <a:r>
              <a:rPr lang="en-IN" sz="2400" dirty="0">
                <a:latin typeface="+mj-lt"/>
              </a:rPr>
              <a:t>.</a:t>
            </a:r>
          </a:p>
          <a:p>
            <a:pPr marL="457200" lvl="0" indent="-457200">
              <a:buFont typeface="+mj-lt"/>
              <a:buAutoNum type="arabicPeriod"/>
            </a:pPr>
            <a:r>
              <a:rPr lang="en-IN" sz="2400" dirty="0">
                <a:latin typeface="+mj-lt"/>
              </a:rPr>
              <a:t>Therefore, an ML-based system is developed to predict crop yield from relevant agricultural features.</a:t>
            </a:r>
          </a:p>
          <a:p>
            <a:endParaRPr lang="en-IN" dirty="0"/>
          </a:p>
        </p:txBody>
      </p:sp>
      <p:sp>
        <p:nvSpPr>
          <p:cNvPr id="4" name="Slide Number Placeholder 3">
            <a:extLst>
              <a:ext uri="{FF2B5EF4-FFF2-40B4-BE49-F238E27FC236}">
                <a16:creationId xmlns:a16="http://schemas.microsoft.com/office/drawing/2014/main" id="{ADE474F3-AB2E-B581-EA39-6D423E3AD044}"/>
              </a:ext>
            </a:extLst>
          </p:cNvPr>
          <p:cNvSpPr>
            <a:spLocks noGrp="1"/>
          </p:cNvSpPr>
          <p:nvPr>
            <p:ph type="sldNum" sz="quarter" idx="4"/>
          </p:nvPr>
        </p:nvSpPr>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1820820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1343596" y="406908"/>
            <a:ext cx="5449824" cy="978408"/>
          </a:xfrm>
        </p:spPr>
        <p:txBody>
          <a:bodyPr anchor="b"/>
          <a:lstStyle/>
          <a:p>
            <a:r>
              <a:rPr lang="en-IN" sz="5400" b="1" dirty="0"/>
              <a:t>Objectives</a:t>
            </a:r>
            <a:endParaRPr lang="en-US" sz="5400" b="1" dirty="0"/>
          </a:p>
        </p:txBody>
      </p:sp>
      <p:sp>
        <p:nvSpPr>
          <p:cNvPr id="11" name="Content Placeholder 10">
            <a:extLst>
              <a:ext uri="{FF2B5EF4-FFF2-40B4-BE49-F238E27FC236}">
                <a16:creationId xmlns:a16="http://schemas.microsoft.com/office/drawing/2014/main" id="{000EBDF4-3413-FCF9-2E25-9A254A61F23E}"/>
              </a:ext>
            </a:extLst>
          </p:cNvPr>
          <p:cNvSpPr>
            <a:spLocks noGrp="1"/>
          </p:cNvSpPr>
          <p:nvPr>
            <p:ph idx="10"/>
          </p:nvPr>
        </p:nvSpPr>
        <p:spPr>
          <a:xfrm>
            <a:off x="523684" y="1732788"/>
            <a:ext cx="7614476" cy="4791456"/>
          </a:xfrm>
        </p:spPr>
        <p:txBody>
          <a:bodyPr/>
          <a:lstStyle/>
          <a:p>
            <a:pPr marL="457200" lvl="0" indent="-457200">
              <a:buFont typeface="+mj-lt"/>
              <a:buAutoNum type="arabicPeriod"/>
            </a:pPr>
            <a:r>
              <a:rPr lang="en-IN" dirty="0">
                <a:latin typeface="+mj-lt"/>
              </a:rPr>
              <a:t>Collect and prepare a suitable agricultural dataset.</a:t>
            </a:r>
          </a:p>
          <a:p>
            <a:pPr marL="457200" lvl="0" indent="-457200">
              <a:buFont typeface="+mj-lt"/>
              <a:buAutoNum type="arabicPeriod"/>
            </a:pPr>
            <a:r>
              <a:rPr lang="en-IN" dirty="0">
                <a:latin typeface="+mj-lt"/>
              </a:rPr>
              <a:t>Perform </a:t>
            </a:r>
            <a:r>
              <a:rPr lang="en-IN" b="1" dirty="0">
                <a:latin typeface="+mj-lt"/>
              </a:rPr>
              <a:t>data preprocessing and exploratory data analysis</a:t>
            </a:r>
            <a:r>
              <a:rPr lang="en-IN" dirty="0">
                <a:latin typeface="+mj-lt"/>
              </a:rPr>
              <a:t>.</a:t>
            </a:r>
          </a:p>
          <a:p>
            <a:pPr marL="457200" lvl="0" indent="-457200">
              <a:buFont typeface="+mj-lt"/>
              <a:buAutoNum type="arabicPeriod"/>
            </a:pPr>
            <a:r>
              <a:rPr lang="en-IN" dirty="0">
                <a:latin typeface="+mj-lt"/>
              </a:rPr>
              <a:t>Select relevant features for crop-yield prediction.</a:t>
            </a:r>
          </a:p>
          <a:p>
            <a:pPr marL="457200" lvl="0" indent="-457200">
              <a:buFont typeface="+mj-lt"/>
              <a:buAutoNum type="arabicPeriod"/>
            </a:pPr>
            <a:r>
              <a:rPr lang="en-IN" dirty="0">
                <a:latin typeface="+mj-lt"/>
              </a:rPr>
              <a:t>Develop regression models using </a:t>
            </a:r>
            <a:r>
              <a:rPr lang="en-IN" b="1" dirty="0">
                <a:latin typeface="+mj-lt"/>
              </a:rPr>
              <a:t>Random Forest, </a:t>
            </a:r>
            <a:r>
              <a:rPr lang="en-IN" b="1" dirty="0" err="1">
                <a:latin typeface="+mj-lt"/>
              </a:rPr>
              <a:t>XGBoost</a:t>
            </a:r>
            <a:r>
              <a:rPr lang="en-IN" b="1" dirty="0">
                <a:latin typeface="+mj-lt"/>
              </a:rPr>
              <a:t>, and SVR</a:t>
            </a:r>
            <a:r>
              <a:rPr lang="en-IN" dirty="0">
                <a:latin typeface="+mj-lt"/>
              </a:rPr>
              <a:t>.</a:t>
            </a:r>
          </a:p>
          <a:p>
            <a:pPr marL="457200" lvl="0" indent="-457200">
              <a:buFont typeface="+mj-lt"/>
              <a:buAutoNum type="arabicPeriod"/>
            </a:pPr>
            <a:r>
              <a:rPr lang="en-IN" dirty="0">
                <a:latin typeface="+mj-lt"/>
              </a:rPr>
              <a:t>Evaluate models using </a:t>
            </a:r>
            <a:r>
              <a:rPr lang="en-IN" b="1" dirty="0">
                <a:latin typeface="+mj-lt"/>
              </a:rPr>
              <a:t>MAE, MSE, RMSE, and R²</a:t>
            </a:r>
            <a:r>
              <a:rPr lang="en-IN" dirty="0">
                <a:latin typeface="+mj-lt"/>
              </a:rPr>
              <a:t>.</a:t>
            </a:r>
          </a:p>
          <a:p>
            <a:pPr marL="457200" lvl="0" indent="-457200">
              <a:buFont typeface="+mj-lt"/>
              <a:buAutoNum type="arabicPeriod"/>
            </a:pPr>
            <a:r>
              <a:rPr lang="en-IN" dirty="0">
                <a:latin typeface="+mj-lt"/>
              </a:rPr>
              <a:t>Compare model performance and identify the suitable model for prediction.</a:t>
            </a:r>
            <a:br>
              <a:rPr lang="en-IN" dirty="0">
                <a:latin typeface="+mj-lt"/>
              </a:rPr>
            </a:br>
            <a:endParaRPr lang="en-IN" dirty="0">
              <a:latin typeface="+mj-lt"/>
            </a:endParaRPr>
          </a:p>
          <a:p>
            <a:pPr marL="457200" indent="-457200">
              <a:buFont typeface="+mj-lt"/>
              <a:buAutoNum type="arabicPeriod"/>
            </a:pPr>
            <a:endParaRPr lang="en-US" dirty="0">
              <a:latin typeface="+mj-lt"/>
            </a:endParaRPr>
          </a:p>
        </p:txBody>
      </p:sp>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482226" y="464665"/>
            <a:ext cx="7534656" cy="914400"/>
          </a:xfrm>
        </p:spPr>
        <p:txBody>
          <a:bodyPr/>
          <a:lstStyle/>
          <a:p>
            <a:r>
              <a:rPr lang="en-IN" sz="5400" b="1" dirty="0"/>
              <a:t>Literature Survey</a:t>
            </a:r>
            <a:endParaRPr lang="en-US" sz="5400" b="1" dirty="0"/>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pic>
        <p:nvPicPr>
          <p:cNvPr id="13" name="Picture 12">
            <a:extLst>
              <a:ext uri="{FF2B5EF4-FFF2-40B4-BE49-F238E27FC236}">
                <a16:creationId xmlns:a16="http://schemas.microsoft.com/office/drawing/2014/main" id="{DFEA3725-A763-4A08-8CF0-7A285B6B0ED2}"/>
              </a:ext>
            </a:extLst>
          </p:cNvPr>
          <p:cNvPicPr>
            <a:picLocks noChangeAspect="1"/>
          </p:cNvPicPr>
          <p:nvPr/>
        </p:nvPicPr>
        <p:blipFill>
          <a:blip r:embed="rId3"/>
          <a:stretch>
            <a:fillRect/>
          </a:stretch>
        </p:blipFill>
        <p:spPr>
          <a:xfrm>
            <a:off x="6409944" y="2562629"/>
            <a:ext cx="5363718" cy="2391109"/>
          </a:xfrm>
          <a:prstGeom prst="rect">
            <a:avLst/>
          </a:prstGeom>
        </p:spPr>
      </p:pic>
      <p:sp>
        <p:nvSpPr>
          <p:cNvPr id="15" name="TextBox 14">
            <a:extLst>
              <a:ext uri="{FF2B5EF4-FFF2-40B4-BE49-F238E27FC236}">
                <a16:creationId xmlns:a16="http://schemas.microsoft.com/office/drawing/2014/main" id="{BDE592EF-8352-547D-9BE7-69697193DBF2}"/>
              </a:ext>
            </a:extLst>
          </p:cNvPr>
          <p:cNvSpPr txBox="1"/>
          <p:nvPr/>
        </p:nvSpPr>
        <p:spPr>
          <a:xfrm>
            <a:off x="306324" y="1847931"/>
            <a:ext cx="6103620" cy="4031873"/>
          </a:xfrm>
          <a:prstGeom prst="rect">
            <a:avLst/>
          </a:prstGeom>
          <a:noFill/>
        </p:spPr>
        <p:txBody>
          <a:bodyPr wrap="square">
            <a:spAutoFit/>
          </a:bodyPr>
          <a:lstStyle/>
          <a:p>
            <a:r>
              <a:rPr lang="en-IN" sz="3200" b="1" dirty="0">
                <a:latin typeface="+mj-lt"/>
              </a:rPr>
              <a:t>Research Gap:</a:t>
            </a:r>
            <a:br>
              <a:rPr lang="en-IN" sz="3200" dirty="0">
                <a:latin typeface="+mj-lt"/>
              </a:rPr>
            </a:br>
            <a:r>
              <a:rPr lang="en-IN" sz="3200" dirty="0">
                <a:latin typeface="+mj-lt"/>
              </a:rPr>
              <a:t>Existing studies use different datasets, crops, features, and ML techniques. This project focuses on comparing </a:t>
            </a:r>
            <a:r>
              <a:rPr lang="en-IN" sz="3200" b="1" dirty="0">
                <a:latin typeface="+mj-lt"/>
              </a:rPr>
              <a:t>Random Forest, </a:t>
            </a:r>
            <a:r>
              <a:rPr lang="en-IN" sz="3200" b="1" dirty="0" err="1">
                <a:latin typeface="+mj-lt"/>
              </a:rPr>
              <a:t>XGBoost</a:t>
            </a:r>
            <a:r>
              <a:rPr lang="en-IN" sz="3200" b="1" dirty="0">
                <a:latin typeface="+mj-lt"/>
              </a:rPr>
              <a:t>, and SVR</a:t>
            </a:r>
            <a:r>
              <a:rPr lang="en-IN" sz="3200" dirty="0">
                <a:latin typeface="+mj-lt"/>
              </a:rPr>
              <a:t> using a common agricultural dataset.</a:t>
            </a:r>
          </a:p>
        </p:txBody>
      </p:sp>
    </p:spTree>
    <p:extLst>
      <p:ext uri="{BB962C8B-B14F-4D97-AF65-F5344CB8AC3E}">
        <p14:creationId xmlns:p14="http://schemas.microsoft.com/office/powerpoint/2010/main" val="196691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1959383" y="444045"/>
            <a:ext cx="10360152" cy="1047068"/>
          </a:xfrm>
        </p:spPr>
        <p:txBody>
          <a:bodyPr anchor="b"/>
          <a:lstStyle/>
          <a:p>
            <a:r>
              <a:rPr lang="en-IN" b="1" dirty="0"/>
              <a:t>Proposed System</a:t>
            </a:r>
            <a:endParaRPr lang="en-US" b="1" dirty="0"/>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186165" y="1742647"/>
            <a:ext cx="8947728" cy="4365545"/>
          </a:xfrm>
        </p:spPr>
        <p:txBody>
          <a:bodyPr>
            <a:noAutofit/>
          </a:bodyPr>
          <a:lstStyle/>
          <a:p>
            <a:pPr marL="514350" lvl="0" indent="-514350" algn="l">
              <a:buFont typeface="+mj-lt"/>
              <a:buAutoNum type="arabicPeriod"/>
            </a:pPr>
            <a:r>
              <a:rPr lang="en-IN" dirty="0">
                <a:latin typeface="+mj-lt"/>
              </a:rPr>
              <a:t>Collect agricultural dataset.</a:t>
            </a:r>
          </a:p>
          <a:p>
            <a:pPr marL="514350" lvl="0" indent="-514350" algn="l">
              <a:buFont typeface="+mj-lt"/>
              <a:buAutoNum type="arabicPeriod"/>
            </a:pPr>
            <a:r>
              <a:rPr lang="en-IN" dirty="0">
                <a:latin typeface="+mj-lt"/>
              </a:rPr>
              <a:t>Clean and preprocess the data.</a:t>
            </a:r>
          </a:p>
          <a:p>
            <a:pPr marL="514350" lvl="0" indent="-514350" algn="l">
              <a:buFont typeface="+mj-lt"/>
              <a:buAutoNum type="arabicPeriod"/>
            </a:pPr>
            <a:r>
              <a:rPr lang="en-IN" dirty="0">
                <a:latin typeface="+mj-lt"/>
              </a:rPr>
              <a:t>Handle missing and categorical values.</a:t>
            </a:r>
          </a:p>
          <a:p>
            <a:pPr marL="514350" lvl="0" indent="-514350" algn="l">
              <a:buFont typeface="+mj-lt"/>
              <a:buAutoNum type="arabicPeriod"/>
            </a:pPr>
            <a:r>
              <a:rPr lang="en-IN" dirty="0">
                <a:latin typeface="+mj-lt"/>
              </a:rPr>
              <a:t>Perform EDA and select relevant features.</a:t>
            </a:r>
          </a:p>
          <a:p>
            <a:pPr marL="514350" lvl="0" indent="-514350" algn="l">
              <a:buFont typeface="+mj-lt"/>
              <a:buAutoNum type="arabicPeriod"/>
            </a:pPr>
            <a:r>
              <a:rPr lang="en-IN" dirty="0">
                <a:latin typeface="+mj-lt"/>
              </a:rPr>
              <a:t>Train </a:t>
            </a:r>
            <a:r>
              <a:rPr lang="en-IN" b="1" dirty="0">
                <a:latin typeface="+mj-lt"/>
              </a:rPr>
              <a:t>Random Forest, </a:t>
            </a:r>
            <a:r>
              <a:rPr lang="en-IN" b="1" dirty="0" err="1">
                <a:latin typeface="+mj-lt"/>
              </a:rPr>
              <a:t>XGBoost</a:t>
            </a:r>
            <a:r>
              <a:rPr lang="en-IN" b="1" dirty="0">
                <a:latin typeface="+mj-lt"/>
              </a:rPr>
              <a:t>, and SVR</a:t>
            </a:r>
            <a:r>
              <a:rPr lang="en-IN" dirty="0">
                <a:latin typeface="+mj-lt"/>
              </a:rPr>
              <a:t> models.</a:t>
            </a:r>
          </a:p>
          <a:p>
            <a:pPr marL="514350" lvl="0" indent="-514350" algn="l">
              <a:buFont typeface="+mj-lt"/>
              <a:buAutoNum type="arabicPeriod"/>
            </a:pPr>
            <a:r>
              <a:rPr lang="en-IN" dirty="0">
                <a:latin typeface="+mj-lt"/>
              </a:rPr>
              <a:t>Tune model parameters.</a:t>
            </a:r>
          </a:p>
          <a:p>
            <a:pPr marL="514350" lvl="0" indent="-514350" algn="l">
              <a:buFont typeface="+mj-lt"/>
              <a:buAutoNum type="arabicPeriod"/>
            </a:pPr>
            <a:r>
              <a:rPr lang="en-IN" dirty="0">
                <a:latin typeface="+mj-lt"/>
              </a:rPr>
              <a:t>Evaluate and compare model performance.</a:t>
            </a:r>
          </a:p>
          <a:p>
            <a:pPr marL="514350" lvl="0" indent="-514350" algn="l">
              <a:buFont typeface="+mj-lt"/>
              <a:buAutoNum type="arabicPeriod"/>
            </a:pPr>
            <a:r>
              <a:rPr lang="en-IN" dirty="0">
                <a:latin typeface="+mj-lt"/>
              </a:rPr>
              <a:t>Predict crop yield using the selected model.</a:t>
            </a:r>
          </a:p>
          <a:p>
            <a:pPr marL="514350" indent="-514350" algn="l">
              <a:buFont typeface="+mj-lt"/>
              <a:buAutoNum type="arabicPeriod"/>
            </a:pPr>
            <a:endParaRPr lang="en-US" dirty="0">
              <a:latin typeface="+mj-lt"/>
            </a:endParaRPr>
          </a:p>
        </p:txBody>
      </p:sp>
    </p:spTree>
    <p:extLst>
      <p:ext uri="{BB962C8B-B14F-4D97-AF65-F5344CB8AC3E}">
        <p14:creationId xmlns:p14="http://schemas.microsoft.com/office/powerpoint/2010/main" val="109671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548640" y="192024"/>
            <a:ext cx="10360152" cy="914400"/>
          </a:xfrm>
        </p:spPr>
        <p:txBody>
          <a:bodyPr/>
          <a:lstStyle/>
          <a:p>
            <a:r>
              <a:rPr lang="en-IN" sz="4400" b="1" dirty="0"/>
              <a:t>System Flow Diagram</a:t>
            </a:r>
            <a:endParaRPr lang="en-US" sz="4400" b="1"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180064" y="5824940"/>
            <a:ext cx="661416" cy="895899"/>
          </a:xfrm>
        </p:spPr>
        <p:txBody>
          <a:bodyPr/>
          <a:lstStyle/>
          <a:p>
            <a:fld id="{58FB4751-880F-D840-AAA9-3A15815CC996}" type="slidenum">
              <a:rPr lang="en-US" sz="2000" smtClean="0"/>
              <a:pPr/>
              <a:t>7</a:t>
            </a:fld>
            <a:endParaRPr lang="en-US" sz="2000" dirty="0"/>
          </a:p>
        </p:txBody>
      </p:sp>
      <p:sp>
        <p:nvSpPr>
          <p:cNvPr id="4" name="Content Placeholder 3">
            <a:extLst>
              <a:ext uri="{FF2B5EF4-FFF2-40B4-BE49-F238E27FC236}">
                <a16:creationId xmlns:a16="http://schemas.microsoft.com/office/drawing/2014/main" id="{3363C64E-7379-99C4-AAFD-57265E870291}"/>
              </a:ext>
            </a:extLst>
          </p:cNvPr>
          <p:cNvSpPr>
            <a:spLocks noGrp="1"/>
          </p:cNvSpPr>
          <p:nvPr>
            <p:ph sz="quarter" idx="11"/>
          </p:nvPr>
        </p:nvSpPr>
        <p:spPr>
          <a:xfrm>
            <a:off x="0" y="1280160"/>
            <a:ext cx="11759184" cy="5861304"/>
          </a:xfrm>
        </p:spPr>
        <p:txBody>
          <a:bodyPr>
            <a:noAutofit/>
          </a:bodyPr>
          <a:lstStyle/>
          <a:p>
            <a:r>
              <a:rPr lang="en-IN" sz="1800" b="1" dirty="0"/>
              <a:t>Flow:</a:t>
            </a:r>
          </a:p>
          <a:p>
            <a:pPr algn="ctr"/>
            <a:r>
              <a:rPr lang="en-IN" sz="1800" b="1" dirty="0"/>
              <a:t>Dataset Collection</a:t>
            </a:r>
            <a:br>
              <a:rPr lang="en-IN" sz="1800" dirty="0"/>
            </a:br>
            <a:r>
              <a:rPr lang="en-IN" sz="1800" dirty="0"/>
              <a:t>↓</a:t>
            </a:r>
            <a:br>
              <a:rPr lang="en-IN" sz="1800" dirty="0"/>
            </a:br>
            <a:r>
              <a:rPr lang="en-IN" sz="1800" b="1" dirty="0"/>
              <a:t>Data Inspection</a:t>
            </a:r>
            <a:br>
              <a:rPr lang="en-IN" sz="1800" dirty="0"/>
            </a:br>
            <a:r>
              <a:rPr lang="en-IN" sz="1800" dirty="0"/>
              <a:t>↓</a:t>
            </a:r>
            <a:br>
              <a:rPr lang="en-IN" sz="1800" dirty="0"/>
            </a:br>
            <a:r>
              <a:rPr lang="en-IN" sz="1800" b="1" dirty="0"/>
              <a:t>Data Cleaning &amp; Preprocessing</a:t>
            </a:r>
            <a:br>
              <a:rPr lang="en-IN" sz="1800" dirty="0"/>
            </a:br>
            <a:r>
              <a:rPr lang="en-IN" sz="1800" dirty="0"/>
              <a:t>↓</a:t>
            </a:r>
            <a:br>
              <a:rPr lang="en-IN" sz="1800" dirty="0"/>
            </a:br>
            <a:r>
              <a:rPr lang="en-IN" sz="1800" b="1" dirty="0"/>
              <a:t>Feature Selection</a:t>
            </a:r>
            <a:br>
              <a:rPr lang="en-IN" sz="1800" dirty="0"/>
            </a:br>
            <a:r>
              <a:rPr lang="en-IN" sz="1800" dirty="0"/>
              <a:t>↓</a:t>
            </a:r>
            <a:br>
              <a:rPr lang="en-IN" sz="1800" dirty="0"/>
            </a:br>
            <a:r>
              <a:rPr lang="en-IN" sz="1800" b="1" dirty="0"/>
              <a:t>Train-Test Split</a:t>
            </a:r>
            <a:br>
              <a:rPr lang="en-IN" sz="1800" dirty="0"/>
            </a:br>
            <a:r>
              <a:rPr lang="en-IN" sz="1800" dirty="0"/>
              <a:t>↓</a:t>
            </a:r>
            <a:br>
              <a:rPr lang="en-IN" sz="1800" dirty="0"/>
            </a:br>
            <a:r>
              <a:rPr lang="en-IN" sz="1800" b="1" dirty="0"/>
              <a:t>Model Training</a:t>
            </a:r>
            <a:br>
              <a:rPr lang="en-IN" sz="1800" dirty="0"/>
            </a:br>
            <a:r>
              <a:rPr lang="en-IN" sz="1800" dirty="0"/>
              <a:t>↓</a:t>
            </a:r>
            <a:br>
              <a:rPr lang="en-IN" sz="1800" dirty="0"/>
            </a:br>
            <a:r>
              <a:rPr lang="en-IN" sz="1800" b="1" dirty="0"/>
              <a:t>Random Forest | </a:t>
            </a:r>
            <a:r>
              <a:rPr lang="en-IN" sz="1800" b="1" dirty="0" err="1"/>
              <a:t>XGBoost</a:t>
            </a:r>
            <a:r>
              <a:rPr lang="en-IN" sz="1800" b="1" dirty="0"/>
              <a:t> | SVR</a:t>
            </a:r>
            <a:br>
              <a:rPr lang="en-IN" sz="1800" dirty="0"/>
            </a:br>
            <a:r>
              <a:rPr lang="en-IN" sz="1800" dirty="0"/>
              <a:t>↓</a:t>
            </a:r>
            <a:br>
              <a:rPr lang="en-IN" sz="1800" dirty="0"/>
            </a:br>
            <a:r>
              <a:rPr lang="en-IN" sz="1800" b="1" dirty="0"/>
              <a:t>Hyperparameter Tuning</a:t>
            </a:r>
            <a:br>
              <a:rPr lang="en-IN" sz="1800" dirty="0"/>
            </a:br>
            <a:r>
              <a:rPr lang="en-IN" sz="1800" dirty="0"/>
              <a:t>↓</a:t>
            </a:r>
            <a:br>
              <a:rPr lang="en-IN" sz="1800" dirty="0"/>
            </a:br>
            <a:r>
              <a:rPr lang="en-IN" sz="1800" b="1" dirty="0"/>
              <a:t>Yield Prediction</a:t>
            </a:r>
            <a:br>
              <a:rPr lang="en-IN" sz="1800" dirty="0"/>
            </a:br>
            <a:r>
              <a:rPr lang="en-IN" sz="1800" dirty="0"/>
              <a:t>↓</a:t>
            </a:r>
            <a:br>
              <a:rPr lang="en-IN" sz="1800" dirty="0"/>
            </a:br>
            <a:r>
              <a:rPr lang="en-IN" sz="1800" b="1" dirty="0"/>
              <a:t>Model Evaluation</a:t>
            </a:r>
            <a:br>
              <a:rPr lang="en-IN" sz="1800" dirty="0"/>
            </a:br>
            <a:r>
              <a:rPr lang="en-IN" sz="1800" dirty="0"/>
              <a:t>↓</a:t>
            </a:r>
            <a:br>
              <a:rPr lang="en-IN" sz="1800" dirty="0"/>
            </a:br>
            <a:r>
              <a:rPr lang="en-IN" sz="1800" b="1" dirty="0"/>
              <a:t>Final Prediction</a:t>
            </a:r>
            <a:endParaRPr lang="en-IN" sz="1800" dirty="0"/>
          </a:p>
          <a:p>
            <a:endParaRPr lang="en-IN" sz="1800" dirty="0"/>
          </a:p>
        </p:txBody>
      </p:sp>
    </p:spTree>
    <p:extLst>
      <p:ext uri="{BB962C8B-B14F-4D97-AF65-F5344CB8AC3E}">
        <p14:creationId xmlns:p14="http://schemas.microsoft.com/office/powerpoint/2010/main" val="4230106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359664" y="612648"/>
            <a:ext cx="11832336" cy="1024128"/>
          </a:xfrm>
        </p:spPr>
        <p:txBody>
          <a:bodyPr/>
          <a:lstStyle/>
          <a:p>
            <a:r>
              <a:rPr lang="en-IN" sz="5400" b="1" dirty="0"/>
              <a:t>Dataset Description</a:t>
            </a:r>
            <a:endParaRPr lang="en-US" sz="5400" b="1" dirty="0"/>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557783" y="2084832"/>
            <a:ext cx="6839713" cy="2386584"/>
          </a:xfrm>
        </p:spPr>
        <p:txBody>
          <a:bodyPr>
            <a:normAutofit/>
          </a:bodyPr>
          <a:lstStyle/>
          <a:p>
            <a:pPr lvl="0"/>
            <a:r>
              <a:rPr lang="en-IN" b="1" dirty="0">
                <a:latin typeface="+mj-lt"/>
              </a:rPr>
              <a:t>Dataset Type:</a:t>
            </a:r>
            <a:r>
              <a:rPr lang="en-IN" dirty="0">
                <a:latin typeface="+mj-lt"/>
              </a:rPr>
              <a:t> Indian Agricultural Dataset</a:t>
            </a:r>
          </a:p>
          <a:p>
            <a:pPr lvl="0"/>
            <a:r>
              <a:rPr lang="en-IN" b="1" dirty="0">
                <a:latin typeface="+mj-lt"/>
              </a:rPr>
              <a:t>Problem Type:</a:t>
            </a:r>
            <a:r>
              <a:rPr lang="en-IN" dirty="0">
                <a:latin typeface="+mj-lt"/>
              </a:rPr>
              <a:t> Supervised Regression</a:t>
            </a:r>
          </a:p>
          <a:p>
            <a:pPr lvl="0"/>
            <a:r>
              <a:rPr lang="en-IN" b="1" dirty="0">
                <a:latin typeface="+mj-lt"/>
              </a:rPr>
              <a:t>Target Variable:</a:t>
            </a:r>
            <a:r>
              <a:rPr lang="en-IN" dirty="0">
                <a:latin typeface="+mj-lt"/>
              </a:rPr>
              <a:t> Crop Yield</a:t>
            </a:r>
          </a:p>
          <a:p>
            <a:pPr lvl="0"/>
            <a:r>
              <a:rPr lang="en-IN" b="1" dirty="0">
                <a:latin typeface="+mj-lt"/>
              </a:rPr>
              <a:t>Main Features:</a:t>
            </a:r>
            <a:r>
              <a:rPr lang="en-IN" dirty="0">
                <a:latin typeface="+mj-lt"/>
              </a:rPr>
              <a:t> Crop Type, Area, Rainfall, Temperature, Soil, Irrigation</a:t>
            </a:r>
          </a:p>
          <a:p>
            <a:pPr lvl="0"/>
            <a:r>
              <a:rPr lang="en-IN" b="1" dirty="0">
                <a:latin typeface="+mj-lt"/>
              </a:rPr>
              <a:t>Feature Types:</a:t>
            </a:r>
            <a:r>
              <a:rPr lang="en-IN" dirty="0">
                <a:latin typeface="+mj-lt"/>
              </a:rPr>
              <a:t> Numerical and Categorical</a:t>
            </a:r>
          </a:p>
          <a:p>
            <a:endParaRPr lang="en-US" dirty="0">
              <a:latin typeface="+mj-lt"/>
            </a:endParaRPr>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pic>
        <p:nvPicPr>
          <p:cNvPr id="17" name="Picture 16">
            <a:extLst>
              <a:ext uri="{FF2B5EF4-FFF2-40B4-BE49-F238E27FC236}">
                <a16:creationId xmlns:a16="http://schemas.microsoft.com/office/drawing/2014/main" id="{49164D21-2459-9D5C-1B84-AB06F406D179}"/>
              </a:ext>
            </a:extLst>
          </p:cNvPr>
          <p:cNvPicPr>
            <a:picLocks noChangeAspect="1"/>
          </p:cNvPicPr>
          <p:nvPr/>
        </p:nvPicPr>
        <p:blipFill>
          <a:blip r:embed="rId3"/>
          <a:stretch>
            <a:fillRect/>
          </a:stretch>
        </p:blipFill>
        <p:spPr>
          <a:xfrm>
            <a:off x="7762422" y="1823096"/>
            <a:ext cx="3762900" cy="2648320"/>
          </a:xfrm>
          <a:prstGeom prst="rect">
            <a:avLst/>
          </a:prstGeom>
        </p:spPr>
      </p:pic>
    </p:spTree>
    <p:extLst>
      <p:ext uri="{BB962C8B-B14F-4D97-AF65-F5344CB8AC3E}">
        <p14:creationId xmlns:p14="http://schemas.microsoft.com/office/powerpoint/2010/main" val="3748348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a:xfrm>
            <a:off x="201168" y="347472"/>
            <a:ext cx="11164824" cy="914399"/>
          </a:xfrm>
        </p:spPr>
        <p:txBody>
          <a:bodyPr/>
          <a:lstStyle/>
          <a:p>
            <a:r>
              <a:rPr lang="en-IN" sz="5400" b="1" dirty="0"/>
              <a:t>Data Preprocessing &amp; EDA</a:t>
            </a:r>
            <a:endParaRPr lang="en-US" sz="5400" b="1" dirty="0"/>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563880" y="1527048"/>
            <a:ext cx="5650992" cy="5239511"/>
          </a:xfrm>
        </p:spPr>
        <p:txBody>
          <a:bodyPr>
            <a:noAutofit/>
          </a:bodyPr>
          <a:lstStyle/>
          <a:p>
            <a:r>
              <a:rPr lang="en-IN" sz="1400" b="1" dirty="0">
                <a:latin typeface="+mj-lt"/>
              </a:rPr>
              <a:t>Data Preprocessing</a:t>
            </a:r>
          </a:p>
          <a:p>
            <a:pPr lvl="0"/>
            <a:r>
              <a:rPr lang="en-IN" sz="1400" dirty="0">
                <a:latin typeface="+mj-lt"/>
              </a:rPr>
              <a:t>Data inspection</a:t>
            </a:r>
          </a:p>
          <a:p>
            <a:pPr lvl="0"/>
            <a:r>
              <a:rPr lang="en-IN" sz="1400" dirty="0">
                <a:latin typeface="+mj-lt"/>
              </a:rPr>
              <a:t>Duplicate removal</a:t>
            </a:r>
          </a:p>
          <a:p>
            <a:pPr lvl="0"/>
            <a:r>
              <a:rPr lang="en-IN" sz="1400" dirty="0">
                <a:latin typeface="+mj-lt"/>
              </a:rPr>
              <a:t>Missing-value handling</a:t>
            </a:r>
          </a:p>
          <a:p>
            <a:pPr lvl="0"/>
            <a:r>
              <a:rPr lang="en-IN" sz="1400" dirty="0">
                <a:latin typeface="+mj-lt"/>
              </a:rPr>
              <a:t>Invalid-value and outlier analysis</a:t>
            </a:r>
          </a:p>
          <a:p>
            <a:pPr lvl="0"/>
            <a:r>
              <a:rPr lang="en-IN" sz="1400" dirty="0">
                <a:latin typeface="+mj-lt"/>
              </a:rPr>
              <a:t>Categorical encoding</a:t>
            </a:r>
          </a:p>
          <a:p>
            <a:pPr lvl="0"/>
            <a:r>
              <a:rPr lang="en-IN" sz="1400" dirty="0">
                <a:latin typeface="+mj-lt"/>
              </a:rPr>
              <a:t>Numerical scaling for SVR</a:t>
            </a:r>
          </a:p>
          <a:p>
            <a:pPr lvl="0"/>
            <a:r>
              <a:rPr lang="en-IN" sz="1400" dirty="0">
                <a:latin typeface="+mj-lt"/>
              </a:rPr>
              <a:t>Feature selection</a:t>
            </a:r>
          </a:p>
          <a:p>
            <a:pPr lvl="0"/>
            <a:r>
              <a:rPr lang="en-IN" sz="1400" dirty="0">
                <a:latin typeface="+mj-lt"/>
              </a:rPr>
              <a:t>Train-test splitting</a:t>
            </a:r>
          </a:p>
          <a:p>
            <a:r>
              <a:rPr lang="en-IN" sz="1400" b="1" dirty="0">
                <a:latin typeface="+mj-lt"/>
              </a:rPr>
              <a:t>EDA</a:t>
            </a:r>
          </a:p>
          <a:p>
            <a:pPr lvl="0"/>
            <a:r>
              <a:rPr lang="en-IN" sz="1400" dirty="0">
                <a:latin typeface="+mj-lt"/>
              </a:rPr>
              <a:t>Crop-wise distribution</a:t>
            </a:r>
          </a:p>
          <a:p>
            <a:pPr lvl="0"/>
            <a:r>
              <a:rPr lang="en-IN" sz="1400" dirty="0">
                <a:latin typeface="+mj-lt"/>
              </a:rPr>
              <a:t>Yield distribution</a:t>
            </a:r>
          </a:p>
          <a:p>
            <a:pPr lvl="0"/>
            <a:r>
              <a:rPr lang="en-IN" sz="1400" dirty="0">
                <a:latin typeface="+mj-lt"/>
              </a:rPr>
              <a:t>Rainfall vs. yield</a:t>
            </a:r>
          </a:p>
          <a:p>
            <a:pPr lvl="0"/>
            <a:r>
              <a:rPr lang="en-IN" sz="1400" dirty="0">
                <a:latin typeface="+mj-lt"/>
              </a:rPr>
              <a:t>Temperature vs. yield</a:t>
            </a:r>
          </a:p>
          <a:p>
            <a:pPr lvl="0"/>
            <a:r>
              <a:rPr lang="en-IN" sz="1400" dirty="0">
                <a:latin typeface="+mj-lt"/>
              </a:rPr>
              <a:t>Correlation heatmap</a:t>
            </a:r>
          </a:p>
          <a:p>
            <a:pPr lvl="0"/>
            <a:r>
              <a:rPr lang="en-IN" sz="1400" dirty="0">
                <a:latin typeface="+mj-lt"/>
              </a:rPr>
              <a:t>Outlier analysis</a:t>
            </a:r>
          </a:p>
          <a:p>
            <a:endParaRPr lang="en-US" sz="1400" dirty="0">
              <a:latin typeface="+mj-lt"/>
            </a:endParaRPr>
          </a:p>
        </p:txBody>
      </p:sp>
    </p:spTree>
    <p:extLst>
      <p:ext uri="{BB962C8B-B14F-4D97-AF65-F5344CB8AC3E}">
        <p14:creationId xmlns:p14="http://schemas.microsoft.com/office/powerpoint/2010/main" val="859909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6E3FD31-D19A-BFEB-821F-C00103830DC9}"/>
              </a:ext>
            </a:extLst>
          </p:cNvPr>
          <p:cNvSpPr>
            <a:spLocks noGrp="1"/>
          </p:cNvSpPr>
          <p:nvPr>
            <p:ph type="title"/>
          </p:nvPr>
        </p:nvSpPr>
        <p:spPr>
          <a:xfrm>
            <a:off x="411478" y="283465"/>
            <a:ext cx="10360152" cy="914400"/>
          </a:xfrm>
        </p:spPr>
        <p:txBody>
          <a:bodyPr/>
          <a:lstStyle/>
          <a:p>
            <a:r>
              <a:rPr lang="en-IN" sz="5400" b="1" dirty="0"/>
              <a:t>Model Building</a:t>
            </a:r>
            <a:endParaRPr lang="en-US" sz="5400" b="1" dirty="0"/>
          </a:p>
        </p:txBody>
      </p:sp>
      <p:sp>
        <p:nvSpPr>
          <p:cNvPr id="3" name="Content Placeholder 2">
            <a:extLst>
              <a:ext uri="{FF2B5EF4-FFF2-40B4-BE49-F238E27FC236}">
                <a16:creationId xmlns:a16="http://schemas.microsoft.com/office/drawing/2014/main" id="{CF3ADB94-FC21-07C5-1FC9-E729C5DEDFC6}"/>
              </a:ext>
            </a:extLst>
          </p:cNvPr>
          <p:cNvSpPr>
            <a:spLocks noGrp="1"/>
          </p:cNvSpPr>
          <p:nvPr>
            <p:ph sz="quarter" idx="12"/>
          </p:nvPr>
        </p:nvSpPr>
        <p:spPr>
          <a:xfrm>
            <a:off x="411478" y="1453894"/>
            <a:ext cx="6181345" cy="5120641"/>
          </a:xfrm>
        </p:spPr>
        <p:txBody>
          <a:bodyPr>
            <a:noAutofit/>
          </a:bodyPr>
          <a:lstStyle/>
          <a:p>
            <a:r>
              <a:rPr lang="en-IN" sz="1800" b="1" dirty="0">
                <a:latin typeface="+mj-lt"/>
              </a:rPr>
              <a:t>1. Random Forest</a:t>
            </a:r>
          </a:p>
          <a:p>
            <a:pPr lvl="0"/>
            <a:r>
              <a:rPr lang="en-IN" sz="1800" dirty="0">
                <a:latin typeface="+mj-lt"/>
              </a:rPr>
              <a:t>Ensemble of multiple decision trees.</a:t>
            </a:r>
          </a:p>
          <a:p>
            <a:pPr lvl="0"/>
            <a:r>
              <a:rPr lang="en-IN" sz="1800" dirty="0">
                <a:latin typeface="+mj-lt"/>
              </a:rPr>
              <a:t>Captures nonlinear relationships.</a:t>
            </a:r>
          </a:p>
          <a:p>
            <a:pPr lvl="0"/>
            <a:r>
              <a:rPr lang="en-IN" sz="1800" dirty="0">
                <a:latin typeface="+mj-lt"/>
              </a:rPr>
              <a:t>Provides feature-importance information.</a:t>
            </a:r>
          </a:p>
          <a:p>
            <a:r>
              <a:rPr lang="en-IN" sz="1800" b="1" dirty="0">
                <a:latin typeface="+mj-lt"/>
              </a:rPr>
              <a:t>2. </a:t>
            </a:r>
            <a:r>
              <a:rPr lang="en-IN" sz="1800" b="1" dirty="0" err="1">
                <a:latin typeface="+mj-lt"/>
              </a:rPr>
              <a:t>XGBoost</a:t>
            </a:r>
            <a:endParaRPr lang="en-IN" sz="1800" b="1" dirty="0">
              <a:latin typeface="+mj-lt"/>
            </a:endParaRPr>
          </a:p>
          <a:p>
            <a:pPr lvl="0"/>
            <a:r>
              <a:rPr lang="en-IN" sz="1800" dirty="0">
                <a:latin typeface="+mj-lt"/>
              </a:rPr>
              <a:t>Gradient-boosting-based algorithm.</a:t>
            </a:r>
          </a:p>
          <a:p>
            <a:pPr lvl="0"/>
            <a:r>
              <a:rPr lang="en-IN" sz="1800" dirty="0">
                <a:latin typeface="+mj-lt"/>
              </a:rPr>
              <a:t>Builds trees sequentially to reduce prediction errors.</a:t>
            </a:r>
          </a:p>
          <a:p>
            <a:pPr lvl="0"/>
            <a:r>
              <a:rPr lang="en-IN" sz="1800" dirty="0">
                <a:latin typeface="+mj-lt"/>
              </a:rPr>
              <a:t>Effective for structured/tabular data.</a:t>
            </a:r>
          </a:p>
          <a:p>
            <a:r>
              <a:rPr lang="en-IN" sz="1800" b="1" dirty="0">
                <a:latin typeface="+mj-lt"/>
              </a:rPr>
              <a:t>3. SVR</a:t>
            </a:r>
          </a:p>
          <a:p>
            <a:pPr lvl="0"/>
            <a:r>
              <a:rPr lang="en-IN" sz="1800" dirty="0">
                <a:latin typeface="+mj-lt"/>
              </a:rPr>
              <a:t>Regression algorithm based on Support Vector Machines.</a:t>
            </a:r>
          </a:p>
          <a:p>
            <a:pPr lvl="0"/>
            <a:r>
              <a:rPr lang="en-IN" sz="1800" dirty="0">
                <a:latin typeface="+mj-lt"/>
              </a:rPr>
              <a:t>Uses a suitable kernel to model relationships.</a:t>
            </a:r>
          </a:p>
          <a:p>
            <a:pPr lvl="0"/>
            <a:r>
              <a:rPr lang="en-IN" sz="1800" dirty="0">
                <a:latin typeface="+mj-lt"/>
              </a:rPr>
              <a:t>Requires feature scaling for effective performance</a:t>
            </a:r>
          </a:p>
          <a:p>
            <a:endParaRPr lang="en-US" sz="1800" dirty="0">
              <a:latin typeface="+mj-lt"/>
            </a:endParaRPr>
          </a:p>
        </p:txBody>
      </p:sp>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537809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B33A77B-664F-FFD3-D61A-0D344C269A12}"/>
              </a:ext>
            </a:extLst>
          </p:cNvPr>
          <p:cNvSpPr>
            <a:spLocks noGrp="1"/>
          </p:cNvSpPr>
          <p:nvPr>
            <p:ph type="title"/>
          </p:nvPr>
        </p:nvSpPr>
        <p:spPr>
          <a:xfrm>
            <a:off x="176784" y="640080"/>
            <a:ext cx="12015216" cy="1618488"/>
          </a:xfrm>
        </p:spPr>
        <p:txBody>
          <a:bodyPr/>
          <a:lstStyle/>
          <a:p>
            <a:r>
              <a:rPr lang="en-IN" sz="5400" b="1" dirty="0"/>
              <a:t>Model Evaluation &amp; Results </a:t>
            </a:r>
            <a:r>
              <a:rPr lang="en-US" sz="5400" b="1" dirty="0"/>
              <a:t>tips &amp; takeaways</a:t>
            </a:r>
          </a:p>
        </p:txBody>
      </p:sp>
      <p:sp>
        <p:nvSpPr>
          <p:cNvPr id="3" name="Content Placeholder 2">
            <a:extLst>
              <a:ext uri="{FF2B5EF4-FFF2-40B4-BE49-F238E27FC236}">
                <a16:creationId xmlns:a16="http://schemas.microsoft.com/office/drawing/2014/main" id="{DA4B0F3C-5228-C9FB-1212-1D4894C80B46}"/>
              </a:ext>
            </a:extLst>
          </p:cNvPr>
          <p:cNvSpPr>
            <a:spLocks noGrp="1"/>
          </p:cNvSpPr>
          <p:nvPr>
            <p:ph sz="quarter" idx="13"/>
          </p:nvPr>
        </p:nvSpPr>
        <p:spPr>
          <a:xfrm>
            <a:off x="176784" y="2743200"/>
            <a:ext cx="6729984" cy="3840480"/>
          </a:xfrm>
        </p:spPr>
        <p:txBody>
          <a:bodyPr>
            <a:normAutofit/>
          </a:bodyPr>
          <a:lstStyle/>
          <a:p>
            <a:pPr marL="457200" indent="-457200">
              <a:buFont typeface="+mj-lt"/>
              <a:buAutoNum type="arabicPeriod"/>
            </a:pPr>
            <a:r>
              <a:rPr lang="en-IN" b="1" dirty="0">
                <a:latin typeface="+mj-lt"/>
              </a:rPr>
              <a:t>Evaluation Metrics</a:t>
            </a:r>
          </a:p>
          <a:p>
            <a:pPr marL="457200" lvl="0" indent="-457200">
              <a:buFont typeface="+mj-lt"/>
              <a:buAutoNum type="arabicPeriod"/>
            </a:pPr>
            <a:r>
              <a:rPr lang="en-IN" b="1" dirty="0">
                <a:latin typeface="+mj-lt"/>
              </a:rPr>
              <a:t>MAE:</a:t>
            </a:r>
            <a:r>
              <a:rPr lang="en-IN" dirty="0">
                <a:latin typeface="+mj-lt"/>
              </a:rPr>
              <a:t> Measures average absolute prediction error.</a:t>
            </a:r>
          </a:p>
          <a:p>
            <a:pPr marL="457200" lvl="0" indent="-457200">
              <a:buFont typeface="+mj-lt"/>
              <a:buAutoNum type="arabicPeriod"/>
            </a:pPr>
            <a:r>
              <a:rPr lang="en-IN" b="1" dirty="0">
                <a:latin typeface="+mj-lt"/>
              </a:rPr>
              <a:t>MSE:</a:t>
            </a:r>
            <a:r>
              <a:rPr lang="en-IN" dirty="0">
                <a:latin typeface="+mj-lt"/>
              </a:rPr>
              <a:t> Measures average squared error.</a:t>
            </a:r>
          </a:p>
          <a:p>
            <a:pPr marL="457200" lvl="0" indent="-457200">
              <a:buFont typeface="+mj-lt"/>
              <a:buAutoNum type="arabicPeriod"/>
            </a:pPr>
            <a:r>
              <a:rPr lang="en-IN" b="1" dirty="0">
                <a:latin typeface="+mj-lt"/>
              </a:rPr>
              <a:t>RMSE:</a:t>
            </a:r>
            <a:r>
              <a:rPr lang="en-IN" dirty="0">
                <a:latin typeface="+mj-lt"/>
              </a:rPr>
              <a:t> Measures prediction error in the target's units.</a:t>
            </a:r>
          </a:p>
          <a:p>
            <a:pPr marL="457200" lvl="0" indent="-457200">
              <a:buFont typeface="+mj-lt"/>
              <a:buAutoNum type="arabicPeriod"/>
            </a:pPr>
            <a:r>
              <a:rPr lang="en-IN" b="1" dirty="0">
                <a:latin typeface="+mj-lt"/>
              </a:rPr>
              <a:t>R²:</a:t>
            </a:r>
            <a:r>
              <a:rPr lang="en-IN" dirty="0">
                <a:latin typeface="+mj-lt"/>
              </a:rPr>
              <a:t> Measures how well the model explains variation in crop yield.</a:t>
            </a:r>
          </a:p>
          <a:p>
            <a:pPr marL="457200" indent="-457200">
              <a:buFont typeface="+mj-lt"/>
              <a:buAutoNum type="arabicPeriod"/>
            </a:pPr>
            <a:endParaRPr lang="en-US" dirty="0">
              <a:latin typeface="+mj-lt"/>
            </a:endParaRPr>
          </a:p>
        </p:txBody>
      </p:sp>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pic>
        <p:nvPicPr>
          <p:cNvPr id="8" name="Picture 7">
            <a:extLst>
              <a:ext uri="{FF2B5EF4-FFF2-40B4-BE49-F238E27FC236}">
                <a16:creationId xmlns:a16="http://schemas.microsoft.com/office/drawing/2014/main" id="{BE393118-1B92-29BB-36C5-7C4D548D005D}"/>
              </a:ext>
            </a:extLst>
          </p:cNvPr>
          <p:cNvPicPr>
            <a:picLocks noChangeAspect="1"/>
          </p:cNvPicPr>
          <p:nvPr/>
        </p:nvPicPr>
        <p:blipFill>
          <a:blip r:embed="rId3"/>
          <a:stretch>
            <a:fillRect/>
          </a:stretch>
        </p:blipFill>
        <p:spPr>
          <a:xfrm>
            <a:off x="6906768" y="2468513"/>
            <a:ext cx="5144218" cy="2524477"/>
          </a:xfrm>
          <a:prstGeom prst="rect">
            <a:avLst/>
          </a:prstGeom>
        </p:spPr>
      </p:pic>
    </p:spTree>
    <p:extLst>
      <p:ext uri="{BB962C8B-B14F-4D97-AF65-F5344CB8AC3E}">
        <p14:creationId xmlns:p14="http://schemas.microsoft.com/office/powerpoint/2010/main" val="4132147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C41AE-8E3A-C949-5BE1-6383E40AC853}"/>
              </a:ext>
            </a:extLst>
          </p:cNvPr>
          <p:cNvSpPr>
            <a:spLocks noGrp="1"/>
          </p:cNvSpPr>
          <p:nvPr>
            <p:ph type="title"/>
          </p:nvPr>
        </p:nvSpPr>
        <p:spPr>
          <a:xfrm>
            <a:off x="0" y="82297"/>
            <a:ext cx="12192000" cy="978407"/>
          </a:xfrm>
        </p:spPr>
        <p:txBody>
          <a:bodyPr/>
          <a:lstStyle/>
          <a:p>
            <a:r>
              <a:rPr lang="en-IN" sz="5400" b="1" dirty="0"/>
              <a:t>Conclusion &amp; Future Scope</a:t>
            </a:r>
            <a:endParaRPr lang="en-IN" sz="5400" dirty="0"/>
          </a:p>
        </p:txBody>
      </p:sp>
      <p:sp>
        <p:nvSpPr>
          <p:cNvPr id="3" name="Content Placeholder 2">
            <a:extLst>
              <a:ext uri="{FF2B5EF4-FFF2-40B4-BE49-F238E27FC236}">
                <a16:creationId xmlns:a16="http://schemas.microsoft.com/office/drawing/2014/main" id="{693D9597-59CB-7FE4-173C-01E13D854EF4}"/>
              </a:ext>
            </a:extLst>
          </p:cNvPr>
          <p:cNvSpPr>
            <a:spLocks noGrp="1"/>
          </p:cNvSpPr>
          <p:nvPr>
            <p:ph sz="quarter" idx="10"/>
          </p:nvPr>
        </p:nvSpPr>
        <p:spPr>
          <a:xfrm>
            <a:off x="256032" y="1444752"/>
            <a:ext cx="9427464" cy="5715000"/>
          </a:xfrm>
        </p:spPr>
        <p:txBody>
          <a:bodyPr>
            <a:noAutofit/>
          </a:bodyPr>
          <a:lstStyle/>
          <a:p>
            <a:r>
              <a:rPr lang="en-IN" b="1" dirty="0">
                <a:latin typeface="+mj-lt"/>
              </a:rPr>
              <a:t>Conclusion</a:t>
            </a:r>
          </a:p>
          <a:p>
            <a:pPr lvl="0"/>
            <a:r>
              <a:rPr lang="en-IN" dirty="0">
                <a:latin typeface="+mj-lt"/>
              </a:rPr>
              <a:t>The project applies Machine Learning to crop-yield prediction.</a:t>
            </a:r>
          </a:p>
          <a:p>
            <a:pPr lvl="0"/>
            <a:r>
              <a:rPr lang="en-IN" dirty="0">
                <a:latin typeface="+mj-lt"/>
              </a:rPr>
              <a:t>Agricultural and environmental features are </a:t>
            </a:r>
            <a:r>
              <a:rPr lang="en-IN" dirty="0" err="1">
                <a:latin typeface="+mj-lt"/>
              </a:rPr>
              <a:t>preprocessed</a:t>
            </a:r>
            <a:r>
              <a:rPr lang="en-IN" dirty="0">
                <a:latin typeface="+mj-lt"/>
              </a:rPr>
              <a:t> and </a:t>
            </a:r>
            <a:r>
              <a:rPr lang="en-IN" dirty="0" err="1">
                <a:latin typeface="+mj-lt"/>
              </a:rPr>
              <a:t>analyzed</a:t>
            </a:r>
            <a:r>
              <a:rPr lang="en-IN" dirty="0">
                <a:latin typeface="+mj-lt"/>
              </a:rPr>
              <a:t>.</a:t>
            </a:r>
          </a:p>
          <a:p>
            <a:pPr lvl="0"/>
            <a:r>
              <a:rPr lang="en-IN" dirty="0">
                <a:latin typeface="+mj-lt"/>
              </a:rPr>
              <a:t>Random Forest, </a:t>
            </a:r>
            <a:r>
              <a:rPr lang="en-IN" dirty="0" err="1">
                <a:latin typeface="+mj-lt"/>
              </a:rPr>
              <a:t>XGBoost</a:t>
            </a:r>
            <a:r>
              <a:rPr lang="en-IN" dirty="0">
                <a:latin typeface="+mj-lt"/>
              </a:rPr>
              <a:t>, and SVR are trained as regression models.</a:t>
            </a:r>
          </a:p>
          <a:p>
            <a:pPr lvl="0"/>
            <a:r>
              <a:rPr lang="en-IN" dirty="0">
                <a:latin typeface="+mj-lt"/>
              </a:rPr>
              <a:t>Models are evaluated using MAE, MSE, RMSE, and R².</a:t>
            </a:r>
          </a:p>
          <a:p>
            <a:pPr lvl="0"/>
            <a:r>
              <a:rPr lang="en-IN" dirty="0">
                <a:latin typeface="+mj-lt"/>
              </a:rPr>
              <a:t>The model results can support data-driven agricultural planning.</a:t>
            </a:r>
          </a:p>
          <a:p>
            <a:r>
              <a:rPr lang="en-IN" b="1" dirty="0">
                <a:latin typeface="+mj-lt"/>
              </a:rPr>
              <a:t>Future Scope</a:t>
            </a:r>
          </a:p>
          <a:p>
            <a:pPr lvl="0"/>
            <a:r>
              <a:rPr lang="en-IN" dirty="0">
                <a:latin typeface="+mj-lt"/>
              </a:rPr>
              <a:t>Use larger and more diverse datasets.</a:t>
            </a:r>
          </a:p>
          <a:p>
            <a:pPr lvl="0"/>
            <a:r>
              <a:rPr lang="en-IN" dirty="0">
                <a:latin typeface="+mj-lt"/>
              </a:rPr>
              <a:t>Include satellite and weather data.</a:t>
            </a:r>
          </a:p>
          <a:p>
            <a:pPr lvl="0"/>
            <a:r>
              <a:rPr lang="en-IN" dirty="0">
                <a:latin typeface="+mj-lt"/>
              </a:rPr>
              <a:t>Explore advanced ensemble and deep-learning models.</a:t>
            </a:r>
          </a:p>
          <a:p>
            <a:pPr lvl="0"/>
            <a:r>
              <a:rPr lang="en-IN" dirty="0">
                <a:latin typeface="+mj-lt"/>
              </a:rPr>
              <a:t>Apply Explainable AI techniques.</a:t>
            </a:r>
          </a:p>
          <a:p>
            <a:pPr lvl="0"/>
            <a:r>
              <a:rPr lang="en-IN" dirty="0">
                <a:latin typeface="+mj-lt"/>
              </a:rPr>
              <a:t>Develop a web/mobile application for real-time prediction.</a:t>
            </a:r>
          </a:p>
          <a:p>
            <a:endParaRPr lang="en-IN" dirty="0">
              <a:latin typeface="+mj-lt"/>
            </a:endParaRPr>
          </a:p>
        </p:txBody>
      </p:sp>
      <p:sp>
        <p:nvSpPr>
          <p:cNvPr id="4" name="Slide Number Placeholder 3">
            <a:extLst>
              <a:ext uri="{FF2B5EF4-FFF2-40B4-BE49-F238E27FC236}">
                <a16:creationId xmlns:a16="http://schemas.microsoft.com/office/drawing/2014/main" id="{90B005A0-EED5-1F17-527D-FCBB1A0AA933}"/>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Tree>
    <p:extLst>
      <p:ext uri="{BB962C8B-B14F-4D97-AF65-F5344CB8AC3E}">
        <p14:creationId xmlns:p14="http://schemas.microsoft.com/office/powerpoint/2010/main" val="609764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2807208" y="758952"/>
            <a:ext cx="10963656" cy="649224"/>
          </a:xfrm>
        </p:spPr>
        <p:txBody>
          <a:bodyPr/>
          <a:lstStyle/>
          <a:p>
            <a:r>
              <a:rPr lang="en-IN" sz="6000" b="1" dirty="0"/>
              <a:t>References </a:t>
            </a:r>
            <a:endParaRPr lang="en-US" sz="6000" b="1" dirty="0"/>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1115568" y="1316736"/>
            <a:ext cx="10168128" cy="5943600"/>
          </a:xfrm>
        </p:spPr>
        <p:txBody>
          <a:bodyPr anchor="ctr">
            <a:noAutofit/>
          </a:bodyPr>
          <a:lstStyle/>
          <a:p>
            <a:r>
              <a:rPr lang="en-IN" b="1" dirty="0">
                <a:latin typeface="+mj-lt"/>
              </a:rPr>
              <a:t>References</a:t>
            </a:r>
          </a:p>
          <a:p>
            <a:pPr lvl="0"/>
            <a:r>
              <a:rPr lang="en-IN" i="1" dirty="0">
                <a:latin typeface="+mj-lt"/>
              </a:rPr>
              <a:t>Crop Yield Prediction using Machine Learning and Deep Learning Techniques</a:t>
            </a:r>
            <a:r>
              <a:rPr lang="en-IN" dirty="0">
                <a:latin typeface="+mj-lt"/>
              </a:rPr>
              <a:t>, 2023.</a:t>
            </a:r>
            <a:br>
              <a:rPr lang="en-IN" dirty="0">
                <a:latin typeface="+mj-lt"/>
              </a:rPr>
            </a:br>
            <a:r>
              <a:rPr lang="en-IN" dirty="0">
                <a:latin typeface="+mj-lt"/>
              </a:rPr>
              <a:t>DOI: </a:t>
            </a:r>
            <a:r>
              <a:rPr lang="en-IN" b="1" dirty="0">
                <a:latin typeface="+mj-lt"/>
              </a:rPr>
              <a:t>10.1016/j.procs.2023.01.023</a:t>
            </a:r>
            <a:endParaRPr lang="en-IN" dirty="0">
              <a:latin typeface="+mj-lt"/>
            </a:endParaRPr>
          </a:p>
          <a:p>
            <a:pPr lvl="0"/>
            <a:r>
              <a:rPr lang="en-IN" i="1" dirty="0">
                <a:latin typeface="+mj-lt"/>
              </a:rPr>
              <a:t>Crop Yield Prediction via Explainable AI and Interpretable Machine Learning</a:t>
            </a:r>
            <a:r>
              <a:rPr lang="en-IN" dirty="0">
                <a:latin typeface="+mj-lt"/>
              </a:rPr>
              <a:t>, 2023.</a:t>
            </a:r>
            <a:br>
              <a:rPr lang="en-IN" dirty="0">
                <a:latin typeface="+mj-lt"/>
              </a:rPr>
            </a:br>
            <a:r>
              <a:rPr lang="en-IN" dirty="0">
                <a:latin typeface="+mj-lt"/>
              </a:rPr>
              <a:t>DOI: </a:t>
            </a:r>
            <a:r>
              <a:rPr lang="en-IN" b="1" dirty="0">
                <a:latin typeface="+mj-lt"/>
              </a:rPr>
              <a:t>10.1016/j.agrformet.2023.109458</a:t>
            </a:r>
            <a:endParaRPr lang="en-IN" dirty="0">
              <a:latin typeface="+mj-lt"/>
            </a:endParaRPr>
          </a:p>
          <a:p>
            <a:pPr lvl="0"/>
            <a:r>
              <a:rPr lang="en-IN" i="1" dirty="0">
                <a:latin typeface="+mj-lt"/>
              </a:rPr>
              <a:t>Machine Learning-Based Crop Yield Prediction in South India</a:t>
            </a:r>
            <a:r>
              <a:rPr lang="en-IN" dirty="0">
                <a:latin typeface="+mj-lt"/>
              </a:rPr>
              <a:t>, 2024.</a:t>
            </a:r>
            <a:br>
              <a:rPr lang="en-IN" dirty="0">
                <a:latin typeface="+mj-lt"/>
              </a:rPr>
            </a:br>
            <a:r>
              <a:rPr lang="en-IN" dirty="0">
                <a:latin typeface="+mj-lt"/>
              </a:rPr>
              <a:t>DOI: </a:t>
            </a:r>
            <a:r>
              <a:rPr lang="en-IN" b="1" dirty="0">
                <a:latin typeface="+mj-lt"/>
              </a:rPr>
              <a:t>10.3390/computers13060137</a:t>
            </a:r>
            <a:endParaRPr lang="en-IN" dirty="0">
              <a:latin typeface="+mj-lt"/>
            </a:endParaRPr>
          </a:p>
          <a:p>
            <a:pPr lvl="0"/>
            <a:r>
              <a:rPr lang="en-IN" i="1" dirty="0">
                <a:latin typeface="+mj-lt"/>
              </a:rPr>
              <a:t>Yield Prediction of Winter Wheat at Different Growth Stages Based on Machine Learning</a:t>
            </a:r>
            <a:r>
              <a:rPr lang="en-IN" dirty="0">
                <a:latin typeface="+mj-lt"/>
              </a:rPr>
              <a:t>, 2024.</a:t>
            </a:r>
            <a:br>
              <a:rPr lang="en-IN" dirty="0">
                <a:latin typeface="+mj-lt"/>
              </a:rPr>
            </a:br>
            <a:r>
              <a:rPr lang="en-IN" dirty="0">
                <a:latin typeface="+mj-lt"/>
              </a:rPr>
              <a:t>DOI: </a:t>
            </a:r>
            <a:r>
              <a:rPr lang="en-IN" b="1" dirty="0">
                <a:latin typeface="+mj-lt"/>
              </a:rPr>
              <a:t>10.3390/agronomy14081834</a:t>
            </a:r>
            <a:endParaRPr lang="en-IN" dirty="0">
              <a:latin typeface="+mj-lt"/>
            </a:endParaRPr>
          </a:p>
          <a:p>
            <a:pPr lvl="0"/>
            <a:r>
              <a:rPr lang="en-IN" i="1" dirty="0">
                <a:latin typeface="+mj-lt"/>
              </a:rPr>
              <a:t>Crop Yield Prediction Using Machine Learning: An Extensive and Systematic Literature Review</a:t>
            </a:r>
            <a:r>
              <a:rPr lang="en-IN" dirty="0">
                <a:latin typeface="+mj-lt"/>
              </a:rPr>
              <a:t>, 2025.</a:t>
            </a:r>
            <a:br>
              <a:rPr lang="en-IN" dirty="0">
                <a:latin typeface="+mj-lt"/>
              </a:rPr>
            </a:br>
            <a:r>
              <a:rPr lang="en-IN" dirty="0">
                <a:latin typeface="+mj-lt"/>
              </a:rPr>
              <a:t>DOI: </a:t>
            </a:r>
            <a:r>
              <a:rPr lang="en-IN" b="1" dirty="0">
                <a:latin typeface="+mj-lt"/>
              </a:rPr>
              <a:t>10.1016/j.atech.2024.100718</a:t>
            </a:r>
            <a:endParaRPr lang="en-IN" dirty="0">
              <a:latin typeface="+mj-lt"/>
            </a:endParaRPr>
          </a:p>
          <a:p>
            <a:endParaRPr lang="en-US" dirty="0">
              <a:latin typeface="+mj-lt"/>
            </a:endParaRPr>
          </a:p>
        </p:txBody>
      </p:sp>
    </p:spTree>
    <p:extLst>
      <p:ext uri="{BB962C8B-B14F-4D97-AF65-F5344CB8AC3E}">
        <p14:creationId xmlns:p14="http://schemas.microsoft.com/office/powerpoint/2010/main" val="2188828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6B302-7BAC-4CB1-8BD0-707FE1AACB96}"/>
              </a:ext>
            </a:extLst>
          </p:cNvPr>
          <p:cNvSpPr>
            <a:spLocks noGrp="1"/>
          </p:cNvSpPr>
          <p:nvPr>
            <p:ph type="ctrTitle"/>
          </p:nvPr>
        </p:nvSpPr>
        <p:spPr/>
        <p:txBody>
          <a:bodyPr/>
          <a:lstStyle/>
          <a:p>
            <a:r>
              <a:rPr lang="en-IN" sz="9600" dirty="0"/>
              <a:t>THANK YOU</a:t>
            </a:r>
          </a:p>
        </p:txBody>
      </p:sp>
    </p:spTree>
    <p:extLst>
      <p:ext uri="{BB962C8B-B14F-4D97-AF65-F5344CB8AC3E}">
        <p14:creationId xmlns:p14="http://schemas.microsoft.com/office/powerpoint/2010/main" val="2369744251"/>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{0F0D2AF2-246A-4F00-B946-50845B43093A}TF1ed9553b-00c4-4092-846a-c8f7f2908f3beecd942f_win32-8e33096c3cfc</Template>
  <TotalTime>69</TotalTime>
  <Words>819</Words>
  <Application>Microsoft Office PowerPoint</Application>
  <PresentationFormat>Widescreen</PresentationFormat>
  <Paragraphs>111</Paragraphs>
  <Slides>14</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Bell MT</vt:lpstr>
      <vt:lpstr>Calibri</vt:lpstr>
      <vt:lpstr>Courier New</vt:lpstr>
      <vt:lpstr>Gill Sans Nova Light</vt:lpstr>
      <vt:lpstr>Sagona Book</vt:lpstr>
      <vt:lpstr>Custom</vt:lpstr>
      <vt:lpstr>Crop Yield Prediction using Machine Learning </vt:lpstr>
      <vt:lpstr>Introduction  Agriculture plays a vital role in food production and economic development. Crop yield depends on factors such as rainfall, temperature, soil characteristics, crop type, and cultivated area. Traditional methods of yield estimation may not capture complex relationships between these factors. Machine Learning (ML) can analyze historical agricultural data and identify patterns for accurate yield prediction. This project uses Random Forest, XGBoost, and Support Vector Regression (SVR) to predict crop yield. The predicted results can support better agricultural planning, resource management, and decision-making. </vt:lpstr>
      <vt:lpstr>Problem Statement</vt:lpstr>
      <vt:lpstr>Objectives</vt:lpstr>
      <vt:lpstr>Literature Survey</vt:lpstr>
      <vt:lpstr>Proposed System</vt:lpstr>
      <vt:lpstr>System Flow Diagram</vt:lpstr>
      <vt:lpstr>Dataset Description</vt:lpstr>
      <vt:lpstr>Data Preprocessing &amp; EDA</vt:lpstr>
      <vt:lpstr>Model Building</vt:lpstr>
      <vt:lpstr>Model Evaluation &amp; Results tips &amp; takeaways</vt:lpstr>
      <vt:lpstr>Conclusion &amp; Future Scope</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manaswi chilukuri</dc:creator>
  <cp:lastModifiedBy>manaswi chilukuri</cp:lastModifiedBy>
  <cp:revision>1</cp:revision>
  <dcterms:created xsi:type="dcterms:W3CDTF">2026-09-18T05:43:37Z</dcterms:created>
  <dcterms:modified xsi:type="dcterms:W3CDTF">2026-09-18T06:53:33Z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